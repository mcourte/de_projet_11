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9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D9EFF"/>
                </a:solidFill>
                <a:latin typeface="Consolas"/>
              </a:rPr>
              <a:t>OpenClassrooms · OCR Projet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2332"/>
                </a:solidFill>
                <a:latin typeface="Calibri"/>
              </a:rPr>
              <a:t>POC Puls-Events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286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  <a:latin typeface="Calibri"/>
              </a:rPr>
              <a:t>Système de recommandation d'événements culturels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D9EFF"/>
                </a:solidFill>
                <a:latin typeface="Calibri"/>
              </a:rPr>
              <a:t>par génération augmentée par la recherche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474720"/>
            <a:ext cx="1517904" cy="347472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502152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D9EFF"/>
                </a:solidFill>
                <a:latin typeface="Consolas"/>
              </a:rPr>
              <a:t>Python 3.11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93976" y="3474720"/>
            <a:ext cx="1719072" cy="347472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5416" y="350215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D9EFF"/>
                </a:solidFill>
                <a:latin typeface="Consolas"/>
              </a:rPr>
              <a:t>LangChain 0.3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3474720"/>
            <a:ext cx="1417320" cy="347472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79" y="350215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D9EFF"/>
                </a:solidFill>
                <a:latin typeface="Consolas"/>
              </a:rPr>
              <a:t>Mistral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9552" y="3474720"/>
            <a:ext cx="914400" cy="347472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350215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D9EFF"/>
                </a:solidFill>
                <a:latin typeface="Consolas"/>
              </a:rPr>
              <a:t>FAISS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38544" y="3474720"/>
            <a:ext cx="1316736" cy="347472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3" y="3502152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D9EFF"/>
                </a:solidFill>
                <a:latin typeface="Consolas"/>
              </a:rPr>
              <a:t>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72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Périmètre : Rennes, Bretagne  · 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32"/>
                </a:solidFill>
                <a:latin typeface="Calibri"/>
              </a:rPr>
              <a:t>Comment trouver un événement culturel
en langage naturel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Les moteurs de recherche par mots-clés ne comprennent pas l'intention de l'utilisateur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Un utilisateur veut demander : "Que faire à Rennes ce weekend en famille ?"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Il faut relier la compréhension du langage à des données événementielles réelles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Contrainte : stack open-source, environnement local reproductible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783080"/>
            <a:ext cx="5486400" cy="11887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874519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SOURCE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2194560"/>
            <a:ext cx="52486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API Open Agenda — événements culturels Rennes / Bretagne, horizon 12 mois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3108960"/>
            <a:ext cx="5486400" cy="11887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3200400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OBJECTIF DU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3520440"/>
            <a:ext cx="52486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Valider la faisabilité d'un chatbot RAG sur un périmètre géographique réel, en 2 semaines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434840"/>
            <a:ext cx="5486400" cy="128016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526279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PÉRIMÈTRE CONFIGURABLE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846320"/>
            <a:ext cx="52486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La ville cible est paramétrable via TARGET_CITY dans le fichier .env — chaque équipe choisit sa ville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SOLUTION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74519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  <a:latin typeface="Calibri"/>
              </a:rPr>
              <a:t>Un LLM seul ne connaît pas les événements locaux. Le RAG combine recherche sémantique et génération pour ancrer les réponses dans des données réelles.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651760"/>
            <a:ext cx="1965960" cy="11887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743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2332"/>
                </a:solidFill>
                <a:latin typeface="Consolas"/>
              </a:rPr>
              <a:t>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12724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"Que faire
ce weekend 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063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6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651760"/>
            <a:ext cx="1965960" cy="1188720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743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D9EFF"/>
                </a:solidFill>
                <a:latin typeface="Consolas"/>
              </a:rPr>
              <a:t>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12724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Embedding Mistral
→ FAISS k=5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6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651760"/>
            <a:ext cx="1965960" cy="1188720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79" y="2743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D9EFF"/>
                </a:solidFill>
                <a:latin typeface="Consolas"/>
              </a:rPr>
              <a:t>Augmentation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312724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Injection dans
le PromptTemplate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63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6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651760"/>
            <a:ext cx="1965960" cy="1188720"/>
          </a:xfrm>
          <a:prstGeom prst="rect">
            <a:avLst/>
          </a:prstGeom>
          <a:solidFill>
            <a:srgbClr val="EEF2F8"/>
          </a:solidFill>
          <a:ln w="6350">
            <a:solidFill>
              <a:srgbClr val="39C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79" y="2743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9C870"/>
                </a:solidFill>
                <a:latin typeface="Consolas"/>
              </a:rPr>
              <a:t>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312724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Mistral Large
rédige la réponse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63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66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2651760"/>
            <a:ext cx="1965960" cy="11887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743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2332"/>
                </a:solidFill>
                <a:latin typeface="Consolas"/>
              </a:rPr>
              <a:t>Streamlit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12724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Réponse
+ sources affichées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160520"/>
            <a:ext cx="54864" cy="868680"/>
          </a:xfrm>
          <a:prstGeom prst="rect">
            <a:avLst/>
          </a:prstGeom>
          <a:solidFill>
            <a:srgbClr val="4D9EFF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" y="4160520"/>
            <a:ext cx="11283696" cy="868680"/>
          </a:xfrm>
          <a:prstGeom prst="rect">
            <a:avLst/>
          </a:prstGeom>
          <a:solidFill>
            <a:srgbClr val="EEF2F8"/>
          </a:solidFill>
          <a:ln w="635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270248"/>
            <a:ext cx="1101852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Avantage clé : le modèle ne fabrique pas d'événements. Il ne répond qu'à partir des données indexées — si l'information est absente, il le signale explicitement.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332"/>
                </a:solidFill>
                <a:latin typeface="Calibri"/>
              </a:rPr>
              <a:t>Vue d'ensemble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566"/>
                </a:solidFill>
                <a:latin typeface="Consolas"/>
              </a:rPr>
              <a:t>PHASE OFFLINE — build_vectorstore.py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780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Open Agenda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07208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Pagination · filtre &lt; 1 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148840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240280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780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Préprocessing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07208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Filtre · extraction ·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148840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79" y="2240280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24780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Chunking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807208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512 tokens / overlap 64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19" y="2148840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2240280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4780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2807208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mistral-embed ·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599" y="2148840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39" y="2240280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24780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FAISS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39" y="2807208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Sauvegarde locale disque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429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566"/>
                </a:solidFill>
                <a:latin typeface="Consolas"/>
              </a:rPr>
              <a:t>PHASE ONLINE — app.py (Streamlit)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49039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40479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0782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07407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st.chat_input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749039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840479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0782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Retriever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407407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FAISS similarity k=5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3749039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79" y="3840479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79" y="40782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RetrievalQA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79" y="4407407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LangChain chain 'stuff'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19" y="3749039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59" y="3840479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59" y="40782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Mistral Large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59" y="4407407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temperature=0.1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599" y="3749039"/>
            <a:ext cx="2176272" cy="1143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39" y="3840479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D9EFF"/>
                </a:solidFill>
                <a:latin typeface="Consola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39" y="4078224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  <a:latin typeface="Calibri"/>
              </a:rPr>
              <a:t>Réponse + 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39" y="4407407"/>
            <a:ext cx="1993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  <a:latin typeface="Calibri"/>
              </a:rPr>
              <a:t>st.expander · métadonnées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120640"/>
            <a:ext cx="5486400" cy="146304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5212079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STRUCTURE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5532120"/>
            <a:ext cx="524865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src/ · data_collection/ · vectorstore/ · rag/ · evaluation/ · scripts/ · tests/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5120640"/>
            <a:ext cx="5669280" cy="146304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5212079"/>
            <a:ext cx="5431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PRINCIPES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2" y="5532120"/>
            <a:ext cx="543153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12 modules Python · une responsabilité par fonction · logging partout · config via .env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Les 5 briques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2221992" cy="43891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92024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OPEN AGENDA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240280"/>
            <a:ext cx="19842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Source de données événements culturels.
Pagination REST, filtre temporel intégré, réponse JSON.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2221992" cy="43891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92024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MISTRAL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2240280"/>
            <a:ext cx="19842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mistral-embed pour les vecteurs (1024 dim.).
mistral-large-latest pour la génération et le juge d'évaluation.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828800"/>
            <a:ext cx="2221992" cy="43891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92024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FAISS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2240280"/>
            <a:ext cx="19842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Base vectorielle locale de Meta AI.
Recherche par similarité cosinus.
Aucun serveur requis — index sur disque.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828800"/>
            <a:ext cx="2221992" cy="43891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92024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LANGCHAIN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240280"/>
            <a:ext cx="19842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Orchestration RAG : RetrievalQA, PromptTemplate, Document, RecursiveCharacterTextSplitter. v0.3.25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0" y="1828800"/>
            <a:ext cx="2221992" cy="43891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92024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240280"/>
            <a:ext cx="19842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Interface chatbot web en pur Python.
@st.cache_resource — l'index FAISS est chargé une seule fois. v1.45.1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DONNÉES · COLLECTE &amp; PRÉPROCESSING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Pipeline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fetch_events() — s’appuie sur OPEN_AGENDA_UID, pagination 100 pages, filtre API timings[gte] = aujourd’hui − 365 jours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is_within_one_year() — vérifie firstTiming / nextTiming / lastTiming, ignore les valeurs null et dates malformées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extract_fields() — extrait : id, title, description, city, address, first_date, url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clean_dataframe() — filtre géographique par TARGET_CITY, supprime descriptions &lt; 20 car. et villes manquantes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preprocess() — orchestrateur pur : charge → filtre → extrait → nettoie → sauvegarde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4864" cy="777240"/>
          </a:xfrm>
          <a:prstGeom prst="rect">
            <a:avLst/>
          </a:prstGeom>
          <a:solidFill>
            <a:srgbClr val="4D9EFF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" y="4297680"/>
            <a:ext cx="5705856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407408"/>
            <a:ext cx="54406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Principe : une fonction = une responsabilité. Chaque étape est testable et remplaçable indépendamment.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486400" cy="150876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74519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QUALITÉ DES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94560"/>
            <a:ext cx="5248656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• Filtre temporel : événements &lt; 1 an
• Filtre qualitatif : descriptions substantielles (≥ 20 car.)
• Encodage UTF-8 forcé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429000"/>
            <a:ext cx="5486400" cy="14173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20440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TESTS UNITAIRES (pytest)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840480"/>
            <a:ext cx="524865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TestDataFreshness · TestGeographicFilter
7 assertions vérifiant la fraîcheur, la complétude et la cohérence géographique des données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983480"/>
            <a:ext cx="5486400" cy="11887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5074920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FORMAT DE SORTIE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394960"/>
            <a:ext cx="52486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data/raw/events.json — brut Open Agenda
data/processed/events_clean.csv — nettoyé, prêt pour FAISS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BASE VECTORIELLE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Construction de l'index FAISS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74519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  <a:latin typeface="Calibri"/>
              </a:rPr>
              <a:t>FAISS compare des vecteurs numériques. Mistral transforme chaque texte en un vecteur de 1 024 dimensions.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688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build_documents() — un Document LangChain par événement (titre + description)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chunk_documents() — découpe en blocs de 512 tokens, chevauchement 64 pour préserver le contexte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build_index() — vectorise via FAISS.from_documents, sauvegarde sur disque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load_index() — rechargement avec allow_dangerous_deserialization=True (pickle local)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486400" cy="14173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74519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POURQUOI CHUNKER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194560"/>
            <a:ext cx="524865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Un événement peut avoir une longue description. Découper garantit que la recherche retrouve le passage précis — pas tout le document.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337560"/>
            <a:ext cx="5486400" cy="14173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429000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POURQUOI 512 / 64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749039"/>
            <a:ext cx="524865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512 tokens ≈ un paragraphe complet. Le chevauchement de 64 évite de couper une phrase entre deux chunks et de perdre du sens à la frontière.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4892040"/>
            <a:ext cx="5486400" cy="132588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983479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INDEX SUR DISQUE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5303520"/>
            <a:ext cx="524865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data/processed/faiss_index/
Rechargé une seule fois en mémoire via @st.cache_resource — pas de recalcul à chaque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GÉNÉRATION AUGMENTÉE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La chaîne LangChain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Retriever : vectorstore.as_retriever(k=5) — 5 événements les plus proches sémantiquement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PromptTemplate : cadre le rôle, injecte le contexte, impose de ne répondre qu'à partir des données indexées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ChatMistralAI : temperature=0.1 pour des réponses stables et factuelles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chain_type='stuff' : tous les documents injectés en une seule fois dans le prompt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return_source_documents=True : les sources sont renvoyées pour affichage dans l'interface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754880"/>
            <a:ext cx="54864" cy="914400"/>
          </a:xfrm>
          <a:prstGeom prst="rect">
            <a:avLst/>
          </a:prstGeom>
          <a:solidFill>
            <a:srgbClr val="4D9EFF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" y="4754880"/>
            <a:ext cx="5705856" cy="914400"/>
          </a:xfrm>
          <a:prstGeom prst="rect">
            <a:avLst/>
          </a:prstGeom>
          <a:solidFill>
            <a:srgbClr val="EEF2F8"/>
          </a:solidFill>
          <a:ln w="635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864608"/>
            <a:ext cx="5440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Si aucun événement pertinent n'est récupéré, le prompt demande au modèle de l'indiquer explicitement plutôt que d'inventer.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486400" cy="4846320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257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  <a:latin typeface="Consolas"/>
              </a:rPr>
              <a:t>def build_rag_chain(vectorstore):
    llm = ChatMistralAI(
        model="mistral-large-latest",
        temperature=0.1,
    )
    retriever = vectorstore.as_retriever(
        search_kwargs={"k": 5}
    )
    return RetrievalQA.from_chain_type(
        llm=llm,
        retriever=retriever,
        chain_type="stuff",
        chain_type_kwargs={
            "prompt": PROMPT_TEMPLATE
        },
        return_source_documents=True,
    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Chatbot Streamlit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@st.cache_resource — l'index FAISS et la chaîne ne sont instanciés qu'une seule fois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st.session_state.messages — persistance de l'historique de conversation entre les interactions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st.chat_message — bulles utilisateur / assistant distinctes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st.chat_input — champ de saisie ancré en bas de page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st.expander — sources affichées en accordéon (titre, date, ville, URL)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754880"/>
            <a:ext cx="54864" cy="914400"/>
          </a:xfrm>
          <a:prstGeom prst="rect">
            <a:avLst/>
          </a:prstGeom>
          <a:solidFill>
            <a:srgbClr val="4D9EFF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" y="4754880"/>
            <a:ext cx="5705856" cy="914400"/>
          </a:xfrm>
          <a:prstGeom prst="rect">
            <a:avLst/>
          </a:prstGeom>
          <a:solidFill>
            <a:srgbClr val="EEF2F8"/>
          </a:solidFill>
          <a:ln w="635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864608"/>
            <a:ext cx="5440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Lancement : streamlit run app.py
ou via : python scripts/run_chatbot.py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486400" cy="484632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  <a:latin typeface="Consolas"/>
              </a:rPr>
              <a:t>🧑  Utilisateur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194560"/>
            <a:ext cx="5212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Que faire à Rennes ce weekend en famille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08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🎭  Assistant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429000"/>
            <a:ext cx="52120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52044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Ce weekend à Rennes, plusieurs activités sont disponibles pour les familles : Expo Sciences Vivantes au Musée de Bretagne (entrée gratuite le dimanche), Spectacle Marionnettes au TnB samedi à 15h...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5349240"/>
            <a:ext cx="5212080" cy="274320"/>
          </a:xfrm>
          <a:prstGeom prst="rect">
            <a:avLst/>
          </a:prstGeom>
          <a:solidFill>
            <a:srgbClr val="EEF2F8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537667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▸  3 sources · Musée de Bretagne · TnB · Opéra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LLM-as-a-judge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74519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  <a:latin typeface="Calibri"/>
              </a:rPr>
              <a:t>Évaluer un RAG manuellement est coûteux. On utilise Mistral lui-même comme juge automatique.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146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generate_qa_pairs() — Mistral génère 20 questions + réponses attendues à partir des événements réels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evaluate() — pour chaque question, on interroge le RAG, puis le juge compare les deux réponses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Le juge répond OUI (même sens) ou NON (informations différentes)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Score = nombre de OUI / total · temperature=0 pour un juge déterministe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754880"/>
            <a:ext cx="54864" cy="960120"/>
          </a:xfrm>
          <a:prstGeom prst="rect">
            <a:avLst/>
          </a:prstGeom>
          <a:solidFill>
            <a:srgbClr val="4D9EFF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4754880"/>
            <a:ext cx="5705856" cy="960120"/>
          </a:xfrm>
          <a:prstGeom prst="rect">
            <a:avLst/>
          </a:prstGeom>
          <a:solidFill>
            <a:srgbClr val="EEF2F8"/>
          </a:solidFill>
          <a:ln w="635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864608"/>
            <a:ext cx="54406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Limite : le juge est le même modèle que le générateur. Pour un benchmark robuste : juge indépendant ou évaluation humaine.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486400" cy="128016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74519"/>
            <a:ext cx="5248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D9EFF"/>
                </a:solidFill>
                <a:latin typeface="Consolas"/>
              </a:rPr>
              <a:t>PIPELINE D'ÉVALUATION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94560"/>
            <a:ext cx="52486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CSV événements → 20 paires Q/R générées → RAG répond → Juge Mistral → Score global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200400"/>
            <a:ext cx="5486400" cy="64008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64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"Y a-t-il un concert de jazz ce mois 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69880" y="3355848"/>
            <a:ext cx="1097280" cy="347472"/>
          </a:xfrm>
          <a:prstGeom prst="rect">
            <a:avLst/>
          </a:prstGeom>
          <a:solidFill>
            <a:srgbClr val="EEF2F8"/>
          </a:solidFill>
          <a:ln w="6350">
            <a:solidFill>
              <a:srgbClr val="39C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2760" y="33832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9C870"/>
                </a:solidFill>
                <a:latin typeface="Consolas"/>
              </a:rPr>
              <a:t>OUI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950208"/>
            <a:ext cx="5486400" cy="64008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"Musées ouverts dimanche à Rennes 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9880" y="4105656"/>
            <a:ext cx="1097280" cy="347472"/>
          </a:xfrm>
          <a:prstGeom prst="rect">
            <a:avLst/>
          </a:prstGeom>
          <a:solidFill>
            <a:srgbClr val="EEF2F8"/>
          </a:solidFill>
          <a:ln w="63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52760" y="41330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6B"/>
                </a:solidFill>
                <a:latin typeface="Consolas"/>
              </a:rPr>
              <a:t>NON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4700016"/>
            <a:ext cx="5486400" cy="64008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8646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"Expositions gratuites en juillet ?"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4855464"/>
            <a:ext cx="1097280" cy="347472"/>
          </a:xfrm>
          <a:prstGeom prst="rect">
            <a:avLst/>
          </a:prstGeom>
          <a:solidFill>
            <a:srgbClr val="EEF2F8"/>
          </a:solidFill>
          <a:ln w="6350">
            <a:solidFill>
              <a:srgbClr val="39C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60" y="488289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9C870"/>
                </a:solidFill>
                <a:latin typeface="Consolas"/>
              </a:rPr>
              <a:t>OUI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Ce que le POC démontre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2606040" cy="13716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D9EFF"/>
                </a:solidFill>
                <a:latin typeface="Calibri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  <a:latin typeface="Consolas"/>
              </a:rPr>
              <a:t>pages max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828800"/>
            <a:ext cx="2606040" cy="13716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3852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D9EFF"/>
                </a:solidFill>
                <a:latin typeface="Calibri"/>
              </a:rPr>
              <a:t>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  <a:latin typeface="Consolas"/>
              </a:rPr>
              <a:t>tokens / chunk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828800"/>
            <a:ext cx="2606040" cy="13716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93852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D9EFF"/>
                </a:solidFill>
                <a:latin typeface="Calibri"/>
              </a:rPr>
              <a:t>k=5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517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  <a:latin typeface="Consolas"/>
              </a:rPr>
              <a:t>docs / requête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1080" y="1828800"/>
            <a:ext cx="2606040" cy="13716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93852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D9EFF"/>
                </a:solidFill>
                <a:latin typeface="Calibri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566"/>
                </a:solidFill>
                <a:latin typeface="Consolas"/>
              </a:rPr>
              <a:t>paires Q/R éval.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2900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Réponses ancrées dans les données réelles — pas d'hallucination d'événements inexistants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Index chargé une seule fois en mémoire — temps de réponse stable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Pipeline entièrement reproductible : venv, .env, scripts documentés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Périmètre configurable — TARGET_CITY + OPEN_AGENDA_UID dans .env + rebuild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7 tests unitaires vérifient fraîcheur et cohérence géographique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Architecture en couches — chaque module est indépendant et testable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760720"/>
            <a:ext cx="54864" cy="822960"/>
          </a:xfrm>
          <a:prstGeom prst="rect">
            <a:avLst/>
          </a:prstGeom>
          <a:solidFill>
            <a:srgbClr val="4D9EFF"/>
          </a:solidFill>
          <a:ln w="63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" y="5760720"/>
            <a:ext cx="11283696" cy="822960"/>
          </a:xfrm>
          <a:prstGeom prst="rect">
            <a:avLst/>
          </a:prstGeom>
          <a:solidFill>
            <a:srgbClr val="EEF2F8"/>
          </a:solidFill>
          <a:ln w="6350">
            <a:solidFill>
              <a:srgbClr val="EE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870448"/>
            <a:ext cx="11018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Verdict POC : la stack LangChain + Mistral + FAISS est opérationnelle et validée sur des données réelles de l'API Open Agenda.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332"/>
                </a:solidFill>
                <a:latin typeface="Calibri"/>
              </a:rPr>
              <a:t>Limites du POC &amp; Recommandations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7451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6B6B"/>
                </a:solidFill>
                <a:latin typeface="Consolas"/>
              </a:rPr>
              <a:t>LIMITES ACTUELLES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2402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Index statique — rebuild manuel dès que de nouveaux événements arrivent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Évaluation sur 20 Q/R — insuffisant pour un scoring de production fiable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Single-tenant — une seule ville configurée à la fois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Pas d'authentification ni de persistance de l'historique entre sessions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Dépendance API Mistral — coût à l'usage, latence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7451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9C870"/>
                </a:solidFill>
                <a:latin typeface="Consolas"/>
              </a:rPr>
              <a:t>POUR LA VERSION DE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2402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Mise à jour incrémentale de l'index (FAISS.add_documents ou Qdrant / Pinecone)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Déploiement cloud — Streamlit Community Cloud, AWS ou GCP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Support multi-villes avec sélecteur dans l'interface Streamlit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Évaluation continue avec dataset de référence croissant (&gt; 100 Q/R)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Monitoring : coût API, latence, qualité des réponses, drift des données</a:t>
            </a:r>
          </a:p>
          <a:p>
            <a:pPr>
              <a:spcBef>
                <a:spcPts val="288"/>
              </a:spcBef>
              <a:spcAft>
                <a:spcPts val="0"/>
              </a:spcAft>
            </a:pPr>
            <a:r>
              <a:rPr sz="1150">
                <a:solidFill>
                  <a:srgbClr val="445566"/>
                </a:solidFill>
                <a:latin typeface="Calibri"/>
              </a:rPr>
              <a:t>›  Authentification et persistance de l'historique en base de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D9EFF"/>
                </a:solidFill>
                <a:latin typeface="Consolas"/>
              </a:rPr>
              <a:t>CHANGER D’AGENDA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Adapter le POC à une autre ville en 3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685800" cy="36576"/>
          </a:xfrm>
          <a:prstGeom prst="rect">
            <a:avLst/>
          </a:prstGeom>
          <a:solidFill>
            <a:srgbClr val="4D9EFF"/>
          </a:solidFill>
          <a:ln w="6350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ox1Bg"/>
          <p:cNvSpPr/>
          <p:nvPr/>
        </p:nvSpPr>
        <p:spPr>
          <a:xfrm>
            <a:off x="411480" y="1828800"/>
            <a:ext cx="3666744" cy="4572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ep1Num"/>
          <p:cNvSpPr txBox="1"/>
          <p:nvPr/>
        </p:nvSpPr>
        <p:spPr>
          <a:xfrm>
            <a:off x="548640" y="1938528"/>
            <a:ext cx="33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D9EFF"/>
                </a:solidFill>
                <a:latin typeface="Calibri"/>
              </a:rPr>
              <a:t>1</a:t>
            </a:r>
          </a:p>
        </p:txBody>
      </p:sp>
      <p:sp>
        <p:nvSpPr>
          <p:cNvPr id="7" name="Step1Title"/>
          <p:cNvSpPr txBox="1"/>
          <p:nvPr/>
        </p:nvSpPr>
        <p:spPr>
          <a:xfrm>
            <a:off x="548640" y="2790000"/>
            <a:ext cx="339264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Trouver l’UID de l’agenda</a:t>
            </a:r>
          </a:p>
        </p:txBody>
      </p:sp>
      <p:sp>
        <p:nvSpPr>
          <p:cNvPr id="8" name="Step1Desc"/>
          <p:cNvSpPr txBox="1"/>
          <p:nvPr/>
        </p:nvSpPr>
        <p:spPr>
          <a:xfrm>
            <a:off x="548640" y="3310000"/>
            <a:ext cx="339264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"/>
              </a:spcAft>
            </a:pPr>
            <a:r>
              <a:rPr sz="1000" b="0" i="0">
                <a:solidFill>
                  <a:srgbClr val="445566"/>
                </a:solidFill>
                <a:latin typeface="Calibri"/>
              </a:rPr>
              <a:t>Chercher un agenda sur openagenda.com</a:t>
            </a:r>
          </a:p>
          <a:p>
            <a:pPr algn="l">
              <a:spcBef>
                <a:spcPts val="160"/>
              </a:spcBef>
              <a:spcAft>
                <a:spcPts val="160"/>
              </a:spcAft>
            </a:pPr>
            <a:r>
              <a:rPr sz="1000" b="0" i="0">
                <a:solidFill>
                  <a:srgbClr val="445566"/>
                </a:solidFill>
                <a:latin typeface="Calibri"/>
              </a:rPr>
              <a:t>Cliquer “Exporter” → l’URL révèle l’UID :</a:t>
            </a:r>
          </a:p>
          <a:p>
            <a:pPr algn="l">
              <a:spcBef>
                <a:spcPts val="240"/>
              </a:spcBef>
              <a:spcAft>
                <a:spcPts val="0"/>
              </a:spcAft>
            </a:pPr>
            <a:r>
              <a:rPr sz="900" b="0" i="0">
                <a:solidFill>
                  <a:srgbClr val="4D9EFF"/>
                </a:solidFill>
                <a:latin typeface="Consolas"/>
              </a:rPr>
              <a:t>/agendas/95408779/events</a:t>
            </a:r>
          </a:p>
        </p:txBody>
      </p:sp>
      <p:sp>
        <p:nvSpPr>
          <p:cNvPr id="9" name="Box2Bg"/>
          <p:cNvSpPr/>
          <p:nvPr/>
        </p:nvSpPr>
        <p:spPr>
          <a:xfrm>
            <a:off x="4261104" y="1828800"/>
            <a:ext cx="3666744" cy="4572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ep2Num"/>
          <p:cNvSpPr txBox="1"/>
          <p:nvPr/>
        </p:nvSpPr>
        <p:spPr>
          <a:xfrm>
            <a:off x="4398264" y="1938528"/>
            <a:ext cx="33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D9EFF"/>
                </a:solidFill>
                <a:latin typeface="Calibri"/>
              </a:rPr>
              <a:t>2</a:t>
            </a:r>
          </a:p>
        </p:txBody>
      </p:sp>
      <p:sp>
        <p:nvSpPr>
          <p:cNvPr id="11" name="Step2Title"/>
          <p:cNvSpPr txBox="1"/>
          <p:nvPr/>
        </p:nvSpPr>
        <p:spPr>
          <a:xfrm>
            <a:off x="4398264" y="2790000"/>
            <a:ext cx="339264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Mettre à jour le fichier .env</a:t>
            </a:r>
          </a:p>
        </p:txBody>
      </p:sp>
      <p:sp>
        <p:nvSpPr>
          <p:cNvPr id="12" name="Step2Desc"/>
          <p:cNvSpPr txBox="1"/>
          <p:nvPr/>
        </p:nvSpPr>
        <p:spPr>
          <a:xfrm>
            <a:off x="4398264" y="3310000"/>
            <a:ext cx="339264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4D9EFF"/>
                </a:solidFill>
                <a:latin typeface="Consolas"/>
              </a:rPr>
              <a:t>OPEN_AGENDA_UID=XXXXXXXX</a:t>
            </a:r>
          </a:p>
          <a:p>
            <a:pPr algn="l">
              <a:spcBef>
                <a:spcPts val="200"/>
              </a:spcBef>
              <a:spcAft>
                <a:spcPts val="360"/>
              </a:spcAft>
            </a:pPr>
            <a:r>
              <a:rPr sz="900" b="0" i="0">
                <a:solidFill>
                  <a:srgbClr val="4D9EFF"/>
                </a:solidFill>
                <a:latin typeface="Consolas"/>
              </a:rPr>
              <a:t>TARGET_CITY=NomVille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5566"/>
                </a:solidFill>
                <a:latin typeface="Calibri"/>
              </a:rPr>
              <a:t>L’UID est le numéro visible dans l’URL d’export openagenda.com</a:t>
            </a:r>
          </a:p>
        </p:txBody>
      </p:sp>
      <p:sp>
        <p:nvSpPr>
          <p:cNvPr id="13" name="Box3Bg"/>
          <p:cNvSpPr/>
          <p:nvPr/>
        </p:nvSpPr>
        <p:spPr>
          <a:xfrm>
            <a:off x="8110728" y="1828800"/>
            <a:ext cx="3666744" cy="4572000"/>
          </a:xfrm>
          <a:prstGeom prst="rect">
            <a:avLst/>
          </a:prstGeom>
          <a:solidFill>
            <a:srgbClr val="EEF2F8"/>
          </a:solidFill>
          <a:ln w="6350">
            <a:solidFill>
              <a:srgbClr val="C5D0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ep3Num"/>
          <p:cNvSpPr txBox="1"/>
          <p:nvPr/>
        </p:nvSpPr>
        <p:spPr>
          <a:xfrm>
            <a:off x="8247888" y="1938528"/>
            <a:ext cx="33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D9EFF"/>
                </a:solidFill>
                <a:latin typeface="Calibri"/>
              </a:rPr>
              <a:t>3</a:t>
            </a:r>
          </a:p>
        </p:txBody>
      </p:sp>
      <p:sp>
        <p:nvSpPr>
          <p:cNvPr id="15" name="Step3Title"/>
          <p:cNvSpPr txBox="1"/>
          <p:nvPr/>
        </p:nvSpPr>
        <p:spPr>
          <a:xfrm>
            <a:off x="8247888" y="2790000"/>
            <a:ext cx="339264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Reconstruire le vectorstore</a:t>
            </a:r>
          </a:p>
        </p:txBody>
      </p:sp>
      <p:sp>
        <p:nvSpPr>
          <p:cNvPr id="16" name="Step3Desc"/>
          <p:cNvSpPr txBox="1"/>
          <p:nvPr/>
        </p:nvSpPr>
        <p:spPr>
          <a:xfrm>
            <a:off x="8247888" y="3310000"/>
            <a:ext cx="339264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40"/>
              </a:spcAft>
            </a:pPr>
            <a:r>
              <a:rPr sz="900" b="0" i="0">
                <a:solidFill>
                  <a:srgbClr val="4D9EFF"/>
                </a:solidFill>
                <a:latin typeface="Consolas"/>
              </a:rPr>
              <a:t>python scripts/build_vectorstore.py</a:t>
            </a:r>
          </a:p>
          <a:p>
            <a:pPr algn="l">
              <a:spcBef>
                <a:spcPts val="0"/>
              </a:spcBef>
              <a:spcAft>
                <a:spcPts val="160"/>
              </a:spcAft>
            </a:pPr>
            <a:r>
              <a:rPr sz="1000" b="0" i="0">
                <a:solidFill>
                  <a:srgbClr val="445566"/>
                </a:solidFill>
                <a:latin typeface="Calibri"/>
              </a:rPr>
              <a:t>Le pipeline complet se relance :</a:t>
            </a:r>
          </a:p>
          <a:p>
            <a:pPr algn="l">
              <a:spcBef>
                <a:spcPts val="160"/>
              </a:spcBef>
              <a:spcAft>
                <a:spcPts val="0"/>
              </a:spcAft>
            </a:pPr>
            <a:r>
              <a:rPr sz="1000" b="0" i="0">
                <a:solidFill>
                  <a:srgbClr val="445566"/>
                </a:solidFill>
                <a:latin typeface="Calibri"/>
              </a:rPr>
              <a:t>Collecte → Preprocessing → Embeddings → FAISS</a:t>
            </a:r>
          </a:p>
          <a:p>
            <a:pPr algn="l">
              <a:spcBef>
                <a:spcPts val="240"/>
              </a:spcBef>
              <a:spcAft>
                <a:spcPts val="0"/>
              </a:spcAft>
            </a:pPr>
            <a:r>
              <a:rPr sz="1000" b="0" i="0">
                <a:solidFill>
                  <a:srgbClr val="445566"/>
                </a:solidFill>
                <a:latin typeface="Calibri"/>
              </a:rPr>
              <a:t>Puis relancer : </a:t>
            </a:r>
            <a:r>
              <a:rPr sz="900" b="0" i="0">
                <a:solidFill>
                  <a:srgbClr val="4D9EFF"/>
                </a:solidFill>
                <a:latin typeface="Consolas"/>
              </a:rPr>
              <a:t>streamlit run app.py</a:t>
            </a:r>
          </a:p>
        </p:txBody>
      </p:sp>
      <p:sp>
        <p:nvSpPr>
          <p:cNvPr id="17" name="AccentBar"/>
          <p:cNvSpPr/>
          <p:nvPr/>
        </p:nvSpPr>
        <p:spPr>
          <a:xfrm>
            <a:off x="411480" y="5760720"/>
            <a:ext cx="54864" cy="822960"/>
          </a:xfrm>
          <a:prstGeom prst="rect">
            <a:avLst/>
          </a:prstGeom>
          <a:solidFill>
            <a:srgbClr val="4D9EFF"/>
          </a:solidFill>
          <a:ln w="6350">
            <a:solidFill>
              <a:srgbClr val="4D9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ooterBar"/>
          <p:cNvSpPr/>
          <p:nvPr/>
        </p:nvSpPr>
        <p:spPr>
          <a:xfrm>
            <a:off x="466344" y="5760720"/>
            <a:ext cx="11283696" cy="822960"/>
          </a:xfrm>
          <a:prstGeom prst="rect">
            <a:avLst/>
          </a:prstGeom>
          <a:solidFill>
            <a:srgbClr val="EEF2F8"/>
          </a:solidFill>
          <a:ln w="6350">
            <a:solidFill>
              <a:srgbClr val="EEF2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ooterText"/>
          <p:cNvSpPr txBox="1"/>
          <p:nvPr/>
        </p:nvSpPr>
        <p:spPr>
          <a:xfrm>
            <a:off x="612648" y="5870448"/>
            <a:ext cx="11018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Chaque agenda OpenAgenda possède un UID unique — visible dans l’URL d’export. Deux variables .env + une commande suffisent pour cibler n’importe quelle ville.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